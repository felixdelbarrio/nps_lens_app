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8961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BentonSansBBVA Bold"/>
              </a:rPr>
              <a:t>Seguimiento NPS e incidencias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9B7D2"/>
                </a:solidFill>
                <a:latin typeface="BentonSansBBVA Book"/>
              </a:rPr>
              <a:t>Lectura de negocio para priorizar acciones de mejora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3200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9B7D2"/>
                </a:solidFill>
                <a:latin typeface="BentonSansBBVA Book"/>
              </a:rPr>
              <a:t>2026-03-06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2DC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46304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400">
                <a:solidFill>
                  <a:srgbClr val="FFFFFF"/>
                </a:solidFill>
                <a:latin typeface="BentonSansBBVA Bold"/>
              </a:rPr>
              <a:t>MX/BU · Movil:Empresas?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3794760"/>
            <a:ext cx="2788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3931920"/>
            <a:ext cx="146304" cy="146304"/>
          </a:xfrm>
          <a:prstGeom prst="ellipse">
            <a:avLst/>
          </a:prstGeom>
          <a:solidFill>
            <a:srgbClr val="2DC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895344"/>
            <a:ext cx="2331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2526E"/>
                </a:solidFill>
                <a:latin typeface="BentonSansBBVA Medium"/>
              </a:rPr>
              <a:t>Periodo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78808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0A1F44"/>
                </a:solidFill>
                <a:latin typeface="BentonSansBBVA Bold"/>
              </a:rPr>
              <a:t>2026-01-01 -&gt; 2026-01-31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3794760"/>
            <a:ext cx="2788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94176" y="3931920"/>
            <a:ext cx="146304" cy="146304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95344" y="3895344"/>
            <a:ext cx="2331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2526E"/>
                </a:solidFill>
                <a:latin typeface="BentonSansBBVA Medium"/>
              </a:rPr>
              <a:t>NPS en riesgo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4176" y="4178808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0A1F44"/>
                </a:solidFill>
                <a:latin typeface="BentonSansBBVA Bold"/>
              </a:rPr>
              <a:t>1.00 pts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28816" y="3794760"/>
            <a:ext cx="27889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56831" y="3931920"/>
            <a:ext cx="146304" cy="14630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3895344"/>
            <a:ext cx="2331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2526E"/>
                </a:solidFill>
                <a:latin typeface="BentonSansBBVA Medium"/>
              </a:rPr>
              <a:t>NPS recuperable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1" y="4178808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0A1F44"/>
                </a:solidFill>
                <a:latin typeface="BentonSansBBVA Bold"/>
              </a:rPr>
              <a:t>0.50 pts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91472" y="3794760"/>
            <a:ext cx="205740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19488" y="3931920"/>
            <a:ext cx="146304" cy="14630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0656" y="3895344"/>
            <a:ext cx="1600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2526E"/>
                </a:solidFill>
                <a:latin typeface="BentonSansBBVA Medium"/>
              </a:rPr>
              <a:t>Top-3 incidencias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9488" y="4178808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0A1F44"/>
                </a:solidFill>
                <a:latin typeface="BentonSansBBVA Bold"/>
              </a:rPr>
              <a:t>80.0%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327648"/>
            <a:ext cx="6217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9BB1D3"/>
                </a:solidFill>
                <a:latin typeface="BentonSansBBVA Book"/>
              </a:rPr>
              <a:t>Formato: Plantilla corporativa fija v1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8961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A1F44"/>
                </a:solidFill>
                <a:latin typeface="BentonSansBBVA Bold"/>
              </a:rPr>
              <a:t>Dónde estamos y qué vamos a revisar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2526E"/>
                </a:solidFill>
                <a:latin typeface="BentonSansBBVA Book"/>
              </a:rPr>
              <a:t>Situación del periodo y estructura de la sesión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D6D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417320"/>
            <a:ext cx="2743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1554480"/>
            <a:ext cx="146304" cy="146304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517904"/>
            <a:ext cx="2286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2526E"/>
                </a:solidFill>
                <a:latin typeface="BentonSansBBVA Medium"/>
              </a:rPr>
              <a:t>% incidencias top-3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01368"/>
            <a:ext cx="2514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0A1F44"/>
                </a:solidFill>
                <a:latin typeface="BentonSansBBVA Bold"/>
              </a:rPr>
              <a:t>80.0%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417320"/>
            <a:ext cx="2743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94176" y="1554480"/>
            <a:ext cx="146304" cy="146304"/>
          </a:xfrm>
          <a:prstGeom prst="ellipse">
            <a:avLst/>
          </a:prstGeom>
          <a:solidFill>
            <a:srgbClr val="004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95344" y="1517904"/>
            <a:ext cx="2286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2526E"/>
                </a:solidFill>
                <a:latin typeface="BentonSansBBVA Medium"/>
              </a:rPr>
              <a:t>Tiempo de reacción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4176" y="1801368"/>
            <a:ext cx="2514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0A1F44"/>
                </a:solidFill>
                <a:latin typeface="BentonSansBBVA Bold"/>
              </a:rPr>
              <a:t>1.0 semanas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1417320"/>
            <a:ext cx="5084064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38544" y="1554480"/>
            <a:ext cx="146304" cy="146304"/>
          </a:xfrm>
          <a:prstGeom prst="ellipse">
            <a:avLst/>
          </a:prstGeom>
          <a:solidFill>
            <a:srgbClr val="2DC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9712" y="1517904"/>
            <a:ext cx="462686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42526E"/>
                </a:solidFill>
                <a:latin typeface="BentonSansBBVA Medium"/>
              </a:rPr>
              <a:t>Mensaje de periodo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8544" y="1801368"/>
            <a:ext cx="48554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0A1F44"/>
                </a:solidFill>
                <a:latin typeface="BentonSansBBVA Bold"/>
              </a:rPr>
              <a:t>El foco está en reducir incidencias de mayor impacto para recuperar NPS de forma sostenida.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2651760"/>
            <a:ext cx="10972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0A1F44"/>
                </a:solidFill>
                <a:latin typeface="BentonSansBBVA Bold"/>
              </a:rPr>
              <a:t>Ruta de la presentación</a:t>
            </a:r>
          </a:p>
          <a:p>
            <a:pPr>
              <a:spcAft>
                <a:spcPts val="800"/>
              </a:spcAft>
              <a:defRPr sz="1320">
                <a:solidFill>
                  <a:srgbClr val="42526E"/>
                </a:solidFill>
                <a:latin typeface="BentonSansBBVA Book"/>
              </a:defRPr>
            </a:pPr>
            <a:r>
              <a:t>• 1) Señal temporal: evolución de incidencias y su relación con NPS.</a:t>
            </a:r>
          </a:p>
          <a:p>
            <a:pPr>
              <a:spcAft>
                <a:spcPts val="800"/>
              </a:spcAft>
              <a:defRPr sz="1320">
                <a:solidFill>
                  <a:srgbClr val="42526E"/>
                </a:solidFill>
                <a:latin typeface="BentonSansBBVA Book"/>
              </a:defRPr>
            </a:pPr>
            <a:r>
              <a:t>• 2) Señal diaria: desfase entre incidencias y variación de NPS en top-3.</a:t>
            </a:r>
          </a:p>
          <a:p>
            <a:pPr>
              <a:spcAft>
                <a:spcPts val="800"/>
              </a:spcAft>
              <a:defRPr sz="1320">
                <a:solidFill>
                  <a:srgbClr val="42526E"/>
                </a:solidFill>
                <a:latin typeface="BentonSansBBVA Book"/>
              </a:defRPr>
            </a:pPr>
            <a:r>
              <a:t>• 3) Potencial: NPS en riesgo y NPS recuperable por tema.</a:t>
            </a:r>
          </a:p>
          <a:p>
            <a:pPr>
              <a:spcAft>
                <a:spcPts val="800"/>
              </a:spcAft>
              <a:defRPr sz="1320">
                <a:solidFill>
                  <a:srgbClr val="42526E"/>
                </a:solidFill>
                <a:latin typeface="BentonSansBBVA Book"/>
              </a:defRPr>
            </a:pPr>
            <a:r>
              <a:t>• 4) Plan de trabajo: responsable, plazo y seguimiento semanal.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8961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A1F44"/>
                </a:solidFill>
                <a:latin typeface="BentonSansBBVA Bold"/>
              </a:rPr>
              <a:t>Evolución del periodo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2526E"/>
                </a:solidFill>
                <a:latin typeface="BentonSansBBVA Book"/>
              </a:rPr>
              <a:t>Relación entre incidencias y % detractores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D6D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" y="1325880"/>
            <a:ext cx="7406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481328"/>
            <a:ext cx="7095744" cy="46177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56448" y="1325880"/>
            <a:ext cx="3456432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0A1F44"/>
                </a:solidFill>
                <a:latin typeface="BentonSansBBVA Bold"/>
              </a:rPr>
              <a:t>Lectura de negocio</a:t>
            </a:r>
          </a:p>
          <a:p>
            <a:pPr>
              <a:spcAft>
                <a:spcPts val="600"/>
              </a:spcAft>
              <a:defRPr sz="1220">
                <a:solidFill>
                  <a:srgbClr val="42526E"/>
                </a:solidFill>
                <a:latin typeface="BentonSansBBVA Book"/>
              </a:defRPr>
            </a:pPr>
            <a:r>
              <a:t>• Identifica días con cambios de tendencia en la satisfacción.</a:t>
            </a:r>
          </a:p>
          <a:p>
            <a:pPr>
              <a:spcAft>
                <a:spcPts val="600"/>
              </a:spcAft>
              <a:defRPr sz="1220">
                <a:solidFill>
                  <a:srgbClr val="42526E"/>
                </a:solidFill>
                <a:latin typeface="BentonSansBBVA Book"/>
              </a:defRPr>
            </a:pPr>
            <a:r>
              <a:t>• Contrasta picos de incidencias con variación del indicador.</a:t>
            </a:r>
          </a:p>
          <a:p>
            <a:pPr>
              <a:spcAft>
                <a:spcPts val="600"/>
              </a:spcAft>
              <a:defRPr sz="1220">
                <a:solidFill>
                  <a:srgbClr val="42526E"/>
                </a:solidFill>
                <a:latin typeface="BentonSansBBVA Book"/>
              </a:defRPr>
            </a:pPr>
            <a:r>
              <a:t>• Usa esta lectura para validar momentos de intervención.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8961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A1F44"/>
                </a:solidFill>
                <a:latin typeface="BentonSansBBVA Bold"/>
              </a:rPr>
              <a:t>Top 3: señal diaria y desfase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2526E"/>
                </a:solidFill>
                <a:latin typeface="BentonSansBBVA Book"/>
              </a:rPr>
              <a:t>Evolución de detracción e incidencias desplazadas (lag)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D6D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" y="1325880"/>
            <a:ext cx="7406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481328"/>
            <a:ext cx="7095744" cy="46177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56448" y="1325880"/>
            <a:ext cx="3456432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0A1F44"/>
                </a:solidFill>
                <a:latin typeface="BentonSansBBVA Bold"/>
              </a:rPr>
              <a:t>Lectura de negocio</a:t>
            </a:r>
          </a:p>
          <a:p>
            <a:pPr>
              <a:spcAft>
                <a:spcPts val="600"/>
              </a:spcAft>
              <a:defRPr sz="1220">
                <a:solidFill>
                  <a:srgbClr val="42526E"/>
                </a:solidFill>
                <a:latin typeface="BentonSansBBVA Book"/>
              </a:defRPr>
            </a:pPr>
            <a:r>
              <a:t>• Muestra cuándo el aumento de incidencias anticipa cambios en satisfacción.</a:t>
            </a:r>
          </a:p>
          <a:p>
            <a:pPr>
              <a:spcAft>
                <a:spcPts val="600"/>
              </a:spcAft>
              <a:defRPr sz="1220">
                <a:solidFill>
                  <a:srgbClr val="42526E"/>
                </a:solidFill>
                <a:latin typeface="BentonSansBBVA Book"/>
              </a:defRPr>
            </a:pPr>
            <a:r>
              <a:t>• Permite decidir el momento de intervención por tema.</a:t>
            </a:r>
          </a:p>
          <a:p>
            <a:pPr>
              <a:spcAft>
                <a:spcPts val="600"/>
              </a:spcAft>
              <a:defRPr sz="1220">
                <a:solidFill>
                  <a:srgbClr val="42526E"/>
                </a:solidFill>
                <a:latin typeface="BentonSansBBVA Book"/>
              </a:defRPr>
            </a:pPr>
            <a:r>
              <a:t>• Usa esta lectura para validar si las acciones están llegando a tiempo.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8961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A1F44"/>
                </a:solidFill>
                <a:latin typeface="BentonSansBBVA Bold"/>
              </a:rPr>
              <a:t>Top 3: riesgo y potencial de recuperación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2526E"/>
                </a:solidFill>
                <a:latin typeface="BentonSansBBVA Book"/>
              </a:rPr>
              <a:t>Comparativa por tema priorizado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D6D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" y="1325880"/>
            <a:ext cx="7406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481328"/>
            <a:ext cx="7095744" cy="46177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56448" y="1325880"/>
            <a:ext cx="3456432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0A1F44"/>
                </a:solidFill>
                <a:latin typeface="BentonSansBBVA Bold"/>
              </a:rPr>
              <a:t>Lectura de negocio</a:t>
            </a:r>
          </a:p>
          <a:p>
            <a:pPr>
              <a:spcAft>
                <a:spcPts val="600"/>
              </a:spcAft>
              <a:defRPr sz="1220">
                <a:solidFill>
                  <a:srgbClr val="42526E"/>
                </a:solidFill>
                <a:latin typeface="BentonSansBBVA Book"/>
              </a:defRPr>
            </a:pPr>
            <a:r>
              <a:t>• Riesgo: pérdida potencial de NPS si no actuamos.</a:t>
            </a:r>
          </a:p>
          <a:p>
            <a:pPr>
              <a:spcAft>
                <a:spcPts val="600"/>
              </a:spcAft>
              <a:defRPr sz="1220">
                <a:solidFill>
                  <a:srgbClr val="42526E"/>
                </a:solidFill>
                <a:latin typeface="BentonSansBBVA Book"/>
              </a:defRPr>
            </a:pPr>
            <a:r>
              <a:t>• Recuperable: mejora esperada al ejecutar acciones.</a:t>
            </a:r>
          </a:p>
          <a:p>
            <a:pPr>
              <a:spcAft>
                <a:spcPts val="600"/>
              </a:spcAft>
              <a:defRPr sz="1220">
                <a:solidFill>
                  <a:srgbClr val="42526E"/>
                </a:solidFill>
                <a:latin typeface="BentonSansBBVA Book"/>
              </a:defRPr>
            </a:pPr>
            <a:r>
              <a:t>• Prioriza temas con mayor diferencia absoluta.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8961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A1F44"/>
                </a:solidFill>
                <a:latin typeface="BentonSansBBVA Bold"/>
              </a:rPr>
              <a:t>Plan priorizado del periodo (top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2526E"/>
                </a:solidFill>
                <a:latin typeface="BentonSansBBVA Book"/>
              </a:rPr>
              <a:t>Temas, impacto, responsable y plazo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D6D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" y="1325880"/>
            <a:ext cx="10972800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40">
                <a:solidFill>
                  <a:srgbClr val="0A1F44"/>
                </a:solidFill>
                <a:latin typeface="BentonSansBBVA Medium"/>
              </a:defRPr>
            </a:pPr>
            <a:r>
              <a:t>Tópico | Riesgo NPS | Recuperable | Prioridad | Plan | Responsable | ETA</a:t>
            </a:r>
          </a:p>
          <a:p>
            <a:pPr>
              <a:spcAft>
                <a:spcPts val="500"/>
              </a:spcAft>
              <a:defRPr sz="1180">
                <a:solidFill>
                  <a:srgbClr val="42526E"/>
                </a:solidFill>
                <a:latin typeface="BentonSansBBVA Book"/>
              </a:defRPr>
            </a:pPr>
            <a:r>
              <a:t>A | 1.20 | 0.70 | 0.80 | x | y | 2 sem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8961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A1F44"/>
                </a:solidFill>
                <a:latin typeface="BentonSansBBVA Bold"/>
              </a:rPr>
              <a:t>Resumen para comité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2526E"/>
                </a:solidFill>
                <a:latin typeface="BentonSansBBVA Book"/>
              </a:rPr>
              <a:t>Mensajes clave para decisión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D6D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" y="1325880"/>
            <a:ext cx="7406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42526E"/>
                </a:solidFill>
                <a:latin typeface="BentonSansBBVA Book"/>
              </a:rPr>
              <a:t>No hay información suficiente para este gráfico en el periodo seleccionado.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56448" y="1325880"/>
            <a:ext cx="3456432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0A1F44"/>
                </a:solidFill>
                <a:latin typeface="BentonSansBBVA Bold"/>
              </a:rPr>
              <a:t>Lectura de negocio</a:t>
            </a:r>
          </a:p>
          <a:p>
            <a:pPr>
              <a:spcAft>
                <a:spcPts val="600"/>
              </a:spcAft>
              <a:defRPr sz="1220">
                <a:solidFill>
                  <a:srgbClr val="42526E"/>
                </a:solidFill>
                <a:latin typeface="BentonSansBBVA Book"/>
              </a:defRPr>
            </a:pPr>
            <a:r>
              <a:t>• 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8961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A1F44"/>
                </a:solidFill>
                <a:latin typeface="BentonSansBBVA Bold"/>
              </a:rPr>
              <a:t>Seguimiento y decisiones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42526E"/>
                </a:solidFill>
                <a:latin typeface="BentonSansBBVA Book"/>
              </a:rPr>
              <a:t>Compromisos para la próxima revisión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10972800" cy="36576"/>
          </a:xfrm>
          <a:prstGeom prst="rect">
            <a:avLst/>
          </a:prstGeom>
          <a:solidFill>
            <a:srgbClr val="D6D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" y="1325880"/>
            <a:ext cx="7406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42526E"/>
                </a:solidFill>
                <a:latin typeface="BentonSansBBVA Book"/>
              </a:rPr>
              <a:t>No hay información suficiente para este gráfico en el periodo seleccionado.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56448" y="1325880"/>
            <a:ext cx="3456432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0A1F44"/>
                </a:solidFill>
                <a:latin typeface="BentonSansBBVA Bold"/>
              </a:rPr>
              <a:t>Lectura de negocio</a:t>
            </a:r>
          </a:p>
          <a:p>
            <a:pPr>
              <a:spcAft>
                <a:spcPts val="600"/>
              </a:spcAft>
              <a:defRPr sz="1220">
                <a:solidFill>
                  <a:srgbClr val="42526E"/>
                </a:solidFill>
                <a:latin typeface="BentonSansBBVA Book"/>
              </a:defRPr>
            </a:pPr>
            <a:r>
              <a:t>• 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