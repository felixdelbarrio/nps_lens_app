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ato"/>
      <p:regular r:id="rId16"/>
      <p:bold r:id="rId17"/>
      <p:italic r:id="rId18"/>
      <p:boldItalic r:id="rId19"/>
    </p:embeddedFont>
    <p:embeddedFont>
      <p:font typeface="Lato Light"/>
      <p:regular r:id="rId20"/>
      <p:bold r:id="rId21"/>
      <p:italic r:id="rId22"/>
      <p:boldItalic r:id="rId23"/>
    </p:embeddedFont>
    <p:embeddedFont>
      <p:font typeface="Lato Black"/>
      <p:bold r:id="rId24"/>
      <p:boldItalic r:id="rId25"/>
    </p:embeddedFont>
    <p:embeddedFont>
      <p:font typeface="Source Serif 4 Black"/>
      <p:bold r:id="rId26"/>
      <p:boldItalic r:id="rId27"/>
    </p:embeddedFont>
    <p:embeddedFont>
      <p:font typeface="Source Serif 4 Light"/>
      <p:regular r:id="rId28"/>
      <p:bold r:id="rId29"/>
      <p:italic r:id="rId30"/>
      <p:boldItalic r:id="rId31"/>
    </p:embeddedFont>
    <p:embeddedFont>
      <p:font typeface="Source Serif 4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41F570-D44C-4058-9E48-B8DBE6B6AEFC}">
  <a:tblStyle styleId="{D341F570-D44C-4058-9E48-B8DBE6B6AE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Light-regular.fntdata"/><Relationship Id="rId22" Type="http://schemas.openxmlformats.org/officeDocument/2006/relationships/font" Target="fonts/LatoLight-italic.fntdata"/><Relationship Id="rId21" Type="http://schemas.openxmlformats.org/officeDocument/2006/relationships/font" Target="fonts/LatoLight-bold.fntdata"/><Relationship Id="rId24" Type="http://schemas.openxmlformats.org/officeDocument/2006/relationships/font" Target="fonts/LatoBlack-bold.fntdata"/><Relationship Id="rId23" Type="http://schemas.openxmlformats.org/officeDocument/2006/relationships/font" Target="fonts/LatoLigh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ourceSerif4Black-bold.fntdata"/><Relationship Id="rId25" Type="http://schemas.openxmlformats.org/officeDocument/2006/relationships/font" Target="fonts/LatoBlack-boldItalic.fntdata"/><Relationship Id="rId28" Type="http://schemas.openxmlformats.org/officeDocument/2006/relationships/font" Target="fonts/SourceSerif4Light-regular.fntdata"/><Relationship Id="rId27" Type="http://schemas.openxmlformats.org/officeDocument/2006/relationships/font" Target="fonts/SourceSerif4Black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ourceSerif4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urceSerif4Light-boldItalic.fntdata"/><Relationship Id="rId30" Type="http://schemas.openxmlformats.org/officeDocument/2006/relationships/font" Target="fonts/SourceSerif4Light-italic.fntdata"/><Relationship Id="rId11" Type="http://schemas.openxmlformats.org/officeDocument/2006/relationships/slide" Target="slides/slide5.xml"/><Relationship Id="rId33" Type="http://schemas.openxmlformats.org/officeDocument/2006/relationships/font" Target="fonts/SourceSerif4-bold.fntdata"/><Relationship Id="rId10" Type="http://schemas.openxmlformats.org/officeDocument/2006/relationships/slide" Target="slides/slide4.xml"/><Relationship Id="rId32" Type="http://schemas.openxmlformats.org/officeDocument/2006/relationships/font" Target="fonts/SourceSerif4-regular.fntdata"/><Relationship Id="rId13" Type="http://schemas.openxmlformats.org/officeDocument/2006/relationships/slide" Target="slides/slide7.xml"/><Relationship Id="rId35" Type="http://schemas.openxmlformats.org/officeDocument/2006/relationships/font" Target="fonts/SourceSerif4-boldItalic.fntdata"/><Relationship Id="rId12" Type="http://schemas.openxmlformats.org/officeDocument/2006/relationships/slide" Target="slides/slide6.xml"/><Relationship Id="rId34" Type="http://schemas.openxmlformats.org/officeDocument/2006/relationships/font" Target="fonts/SourceSerif4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SLIDES_API9972890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SLIDES_API9972890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SLIDES_API9972890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SLIDES_API9972890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LIDES_API9972890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LIDES_API9972890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S_API9972890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S_API9972890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SLIDES_API99728904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SLIDES_API99728904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SLIDES_API99728904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SLIDES_API99728904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SLIDES_API99728904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SLIDES_API99728904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09b73a85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409b73a85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09b73a852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409b73a8521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mosca">
  <p:cSld name="CUSTOM_2_2_1">
    <p:bg>
      <p:bgPr>
        <a:solidFill>
          <a:srgbClr val="F7F8F8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 title="Technology_RGB.png"/>
          <p:cNvPicPr preferRelativeResize="0"/>
          <p:nvPr/>
        </p:nvPicPr>
        <p:blipFill rotWithShape="1">
          <a:blip r:embed="rId2">
            <a:alphaModFix/>
          </a:blip>
          <a:srcRect b="32716" l="-18436" r="-12780" t="-78637"/>
          <a:stretch/>
        </p:blipFill>
        <p:spPr>
          <a:xfrm>
            <a:off x="8263200" y="215975"/>
            <a:ext cx="584676" cy="2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9" name="Google Shape;9;p2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logo y sin mosca">
  <p:cSld name="CUSTOM_2_2_1_2">
    <p:bg>
      <p:bgPr>
        <a:solidFill>
          <a:srgbClr val="F7F8F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2" name="Google Shape;12;p3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" name="Google Shape;13;p3" title="Technology_RGB.png"/>
          <p:cNvPicPr preferRelativeResize="0"/>
          <p:nvPr/>
        </p:nvPicPr>
        <p:blipFill rotWithShape="1">
          <a:blip r:embed="rId2">
            <a:alphaModFix/>
          </a:blip>
          <a:srcRect b="32716" l="-18436" r="-12780" t="-78637"/>
          <a:stretch/>
        </p:blipFill>
        <p:spPr>
          <a:xfrm>
            <a:off x="8263200" y="215975"/>
            <a:ext cx="584676" cy="2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con mosca">
  <p:cSld name="CUSTOM_2_2_1_1">
    <p:bg>
      <p:bgPr>
        <a:solidFill>
          <a:srgbClr val="F7F8F8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16;p4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logo y sin mosca">
  <p:cSld name="CUSTOM_2_2_1_1_1">
    <p:bg>
      <p:bgPr>
        <a:solidFill>
          <a:srgbClr val="F7F8F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5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imagen">
  <p:cSld name="CUSTOM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/>
          <p:nvPr>
            <p:ph idx="2" type="pic"/>
          </p:nvPr>
        </p:nvSpPr>
        <p:spPr>
          <a:xfrm>
            <a:off x="75" y="-5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">
  <p:cSld name="Título y objetos_1_1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34525" y="3026821"/>
            <a:ext cx="84750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24" name="Google Shape;24;p7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339854" y="2652147"/>
            <a:ext cx="386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 con micro">
  <p:cSld name="Título y objetos_1_1_3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sz="72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" name="Google Shape;29;p8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Blue con Foto">
  <p:cSld name="Título y objetos_1_1_2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>
            <p:ph idx="2" type="pic"/>
          </p:nvPr>
        </p:nvSpPr>
        <p:spPr>
          <a:xfrm>
            <a:off x="4970225" y="344875"/>
            <a:ext cx="3839100" cy="4462800"/>
          </a:xfrm>
          <a:prstGeom prst="roundRect">
            <a:avLst>
              <a:gd fmla="val 3752" name="adj"/>
            </a:avLst>
          </a:prstGeom>
          <a:noFill/>
          <a:ln>
            <a:noFill/>
          </a:ln>
        </p:spPr>
      </p:sp>
      <p:sp>
        <p:nvSpPr>
          <p:cNvPr id="32" name="Google Shape;32;p9"/>
          <p:cNvSpPr txBox="1"/>
          <p:nvPr>
            <p:ph type="title"/>
          </p:nvPr>
        </p:nvSpPr>
        <p:spPr>
          <a:xfrm>
            <a:off x="334525" y="1117095"/>
            <a:ext cx="3905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34" name="Google Shape;34;p9"/>
          <p:cNvCxnSpPr/>
          <p:nvPr/>
        </p:nvCxnSpPr>
        <p:spPr>
          <a:xfrm>
            <a:off x="4462650" y="343950"/>
            <a:ext cx="0" cy="4429200"/>
          </a:xfrm>
          <a:prstGeom prst="straightConnector1">
            <a:avLst/>
          </a:prstGeom>
          <a:noFill/>
          <a:ln cap="flat" cmpd="sng" w="9525">
            <a:solidFill>
              <a:srgbClr val="ADB8C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346425" y="4150050"/>
            <a:ext cx="3620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6" name="Google Shape;36;p9" title="Technology_RGB_white.png"/>
          <p:cNvPicPr preferRelativeResize="0"/>
          <p:nvPr/>
        </p:nvPicPr>
        <p:blipFill rotWithShape="1">
          <a:blip r:embed="rId2">
            <a:alphaModFix/>
          </a:blip>
          <a:srcRect b="-5214" l="0" r="0" t="-4785"/>
          <a:stretch/>
        </p:blipFill>
        <p:spPr>
          <a:xfrm>
            <a:off x="344875" y="273775"/>
            <a:ext cx="722575" cy="2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Sand">
  <p:cSld name="Título y objetos_1_1_1">
    <p:bg>
      <p:bgPr>
        <a:solidFill>
          <a:schemeClr val="l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0" title="Technology_RGB.png"/>
          <p:cNvPicPr preferRelativeResize="0"/>
          <p:nvPr/>
        </p:nvPicPr>
        <p:blipFill rotWithShape="1">
          <a:blip r:embed="rId2">
            <a:alphaModFix/>
          </a:blip>
          <a:srcRect b="-41191" l="-10094" r="-18325" t="-18095"/>
          <a:stretch/>
        </p:blipFill>
        <p:spPr>
          <a:xfrm>
            <a:off x="271975" y="239975"/>
            <a:ext cx="927900" cy="4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0"/>
          <p:cNvSpPr txBox="1"/>
          <p:nvPr>
            <p:ph type="title"/>
          </p:nvPr>
        </p:nvSpPr>
        <p:spPr>
          <a:xfrm>
            <a:off x="334525" y="2488200"/>
            <a:ext cx="71592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"/>
              <a:buNone/>
              <a:defRPr b="1" sz="7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332678" y="2217775"/>
            <a:ext cx="485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1">
  <p:cSld name="1_Diapositiva de título">
    <p:bg>
      <p:bgPr>
        <a:solidFill>
          <a:schemeClr val="accen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296725" y="3613892"/>
            <a:ext cx="797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43" name="Google Shape;43;p11" title="Technology_RGB.png"/>
          <p:cNvPicPr preferRelativeResize="0"/>
          <p:nvPr/>
        </p:nvPicPr>
        <p:blipFill rotWithShape="1">
          <a:blip r:embed="rId2">
            <a:alphaModFix/>
          </a:blip>
          <a:srcRect b="32701" l="-36404" r="-21599" t="-59155"/>
          <a:stretch/>
        </p:blipFill>
        <p:spPr>
          <a:xfrm>
            <a:off x="8183200" y="247975"/>
            <a:ext cx="885601" cy="2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bento">
  <p:cSld name="1_Diapositiva de título_1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/>
          <p:nvPr/>
        </p:nvSpPr>
        <p:spPr>
          <a:xfrm>
            <a:off x="111600" y="116708"/>
            <a:ext cx="8920800" cy="4910100"/>
          </a:xfrm>
          <a:prstGeom prst="roundRect">
            <a:avLst>
              <a:gd fmla="val 47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6725" y="3586800"/>
            <a:ext cx="85125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47" name="Google Shape;47;p12" title="Technology_RGB.png"/>
          <p:cNvPicPr preferRelativeResize="0"/>
          <p:nvPr/>
        </p:nvPicPr>
        <p:blipFill rotWithShape="1">
          <a:blip r:embed="rId2">
            <a:alphaModFix/>
          </a:blip>
          <a:srcRect b="32701" l="-36404" r="-21599" t="-59155"/>
          <a:stretch/>
        </p:blipFill>
        <p:spPr>
          <a:xfrm>
            <a:off x="8183200" y="247975"/>
            <a:ext cx="885601" cy="2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foto">
  <p:cSld name="1_Diapositiva de título_1_1">
    <p:bg>
      <p:bgPr>
        <a:solidFill>
          <a:schemeClr val="accen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>
            <p:ph idx="2" type="pic"/>
          </p:nvPr>
        </p:nvSpPr>
        <p:spPr>
          <a:xfrm>
            <a:off x="5416150" y="894650"/>
            <a:ext cx="3393300" cy="3110700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50" name="Google Shape;50;p13"/>
          <p:cNvSpPr txBox="1"/>
          <p:nvPr>
            <p:ph type="title"/>
          </p:nvPr>
        </p:nvSpPr>
        <p:spPr>
          <a:xfrm>
            <a:off x="296725" y="783555"/>
            <a:ext cx="40650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361150" y="3418403"/>
            <a:ext cx="4102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b="1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" name="Google Shape;52;p13"/>
          <p:cNvCxnSpPr/>
          <p:nvPr/>
        </p:nvCxnSpPr>
        <p:spPr>
          <a:xfrm>
            <a:off x="4903450" y="884250"/>
            <a:ext cx="0" cy="31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USTOM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2247300" y="2317200"/>
            <a:ext cx="4649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55" name="Google Shape;5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5376" y="360000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ítulo y objetos">
    <p:bg>
      <p:bgPr>
        <a:solidFill>
          <a:srgbClr val="F7F8F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340725" y="800277"/>
            <a:ext cx="3418800" cy="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58" name="Google Shape;58;p1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ón">
  <p:cSld name="Título y objetos_1_1_4">
    <p:bg>
      <p:bgPr>
        <a:solidFill>
          <a:schemeClr val="accen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22550" y="1020341"/>
            <a:ext cx="5021400" cy="27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Source Serif 4 Black"/>
              <a:buNone/>
              <a:defRPr b="0" i="0" sz="5000" u="none" cap="none" strike="noStrike">
                <a:solidFill>
                  <a:schemeClr val="dk2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 1">
  <p:cSld name="Cierre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1391478" y="2317200"/>
            <a:ext cx="63609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i="0" sz="3000" u="none" cap="none" strike="noStrike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310901" y="246893"/>
            <a:ext cx="85578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"/>
              <a:buNone/>
              <a:defRPr b="1" i="0" sz="2000" u="none" cap="none" strike="noStrik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sz="1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5">
          <p15:clr>
            <a:srgbClr val="FBAE40"/>
          </p15:clr>
        </p15:guide>
        <p15:guide id="2" pos="310">
          <p15:clr>
            <a:srgbClr val="FBAE40"/>
          </p15:clr>
        </p15:guide>
        <p15:guide id="3" pos="5653">
          <p15:clr>
            <a:srgbClr val="FBAE40"/>
          </p15:clr>
        </p15:guide>
        <p15:guide id="4" orient="horz" pos="282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 marcianito">
  <p:cSld name="CUSTOM_3_1">
    <p:bg>
      <p:bgPr>
        <a:solidFill>
          <a:srgbClr val="1E7D86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logo y &quot;breadcrumb&quot;">
  <p:cSld name="CUSTOM_2_2_1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75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2"/>
          <p:cNvSpPr txBox="1"/>
          <p:nvPr>
            <p:ph type="title"/>
          </p:nvPr>
        </p:nvSpPr>
        <p:spPr>
          <a:xfrm>
            <a:off x="341150" y="783529"/>
            <a:ext cx="6709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72" name="Google Shape;72;p22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logo">
  <p:cSld name="CUSTOM_2_2_1_2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63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3"/>
          <p:cNvSpPr txBox="1"/>
          <p:nvPr>
            <p:ph type="title"/>
          </p:nvPr>
        </p:nvSpPr>
        <p:spPr>
          <a:xfrm>
            <a:off x="341150" y="226650"/>
            <a:ext cx="6703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76" name="Google Shape;76;p23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&quot;breadcrumb&quot; sin logo">
  <p:cSld name="CUSTOM_2_2_1_1"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24"/>
          <p:cNvSpPr txBox="1"/>
          <p:nvPr>
            <p:ph type="title"/>
          </p:nvPr>
        </p:nvSpPr>
        <p:spPr>
          <a:xfrm>
            <a:off x="342000" y="784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CUSTOM_2_2_1_1_1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/>
        </p:nvSpPr>
        <p:spPr>
          <a:xfrm>
            <a:off x="8383350" y="4763800"/>
            <a:ext cx="50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p. </a:t>
            </a:r>
            <a:fld id="{00000000-1234-1234-1234-123412341234}" type="slidenum">
              <a:rPr lang="es" sz="800">
                <a:solidFill>
                  <a:srgbClr val="003194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319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25"/>
          <p:cNvSpPr txBox="1"/>
          <p:nvPr>
            <p:ph type="title"/>
          </p:nvPr>
        </p:nvSpPr>
        <p:spPr>
          <a:xfrm>
            <a:off x="342000" y="226800"/>
            <a:ext cx="67098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erif 4"/>
              <a:buNone/>
              <a:defRPr b="1" sz="3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imagen">
  <p:cSld name="CUSTOM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/>
          <p:nvPr>
            <p:ph idx="2" type="pic"/>
          </p:nvPr>
        </p:nvSpPr>
        <p:spPr>
          <a:xfrm>
            <a:off x="75" y="-5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">
  <p:cSld name="Título y objetos_1_1"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type="title"/>
          </p:nvPr>
        </p:nvSpPr>
        <p:spPr>
          <a:xfrm>
            <a:off x="334525" y="3026821"/>
            <a:ext cx="84750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Font typeface="Source Serif 4"/>
              <a:buNone/>
              <a:defRPr b="1" sz="67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87" name="Google Shape;8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7"/>
          <p:cNvSpPr txBox="1"/>
          <p:nvPr>
            <p:ph idx="1" type="subTitle"/>
          </p:nvPr>
        </p:nvSpPr>
        <p:spPr>
          <a:xfrm>
            <a:off x="339854" y="2652147"/>
            <a:ext cx="386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 con micro-ilustración">
  <p:cSld name="Título y objetos_1_1_3"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 txBox="1"/>
          <p:nvPr>
            <p:ph type="title"/>
          </p:nvPr>
        </p:nvSpPr>
        <p:spPr>
          <a:xfrm>
            <a:off x="334525" y="2139598"/>
            <a:ext cx="56811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erif 4"/>
              <a:buNone/>
              <a:defRPr b="1" sz="72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91" name="Google Shape;9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8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1 con imagen">
  <p:cSld name="Título y objetos_1_1_2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/>
          <p:nvPr>
            <p:ph idx="2" type="pic"/>
          </p:nvPr>
        </p:nvSpPr>
        <p:spPr>
          <a:xfrm>
            <a:off x="4970225" y="344875"/>
            <a:ext cx="3839100" cy="4462800"/>
          </a:xfrm>
          <a:prstGeom prst="roundRect">
            <a:avLst>
              <a:gd fmla="val 3752" name="adj"/>
            </a:avLst>
          </a:prstGeom>
          <a:noFill/>
          <a:ln>
            <a:noFill/>
          </a:ln>
        </p:spPr>
      </p:sp>
      <p:sp>
        <p:nvSpPr>
          <p:cNvPr id="95" name="Google Shape;95;p29"/>
          <p:cNvSpPr txBox="1"/>
          <p:nvPr>
            <p:ph type="title"/>
          </p:nvPr>
        </p:nvSpPr>
        <p:spPr>
          <a:xfrm>
            <a:off x="334525" y="1117095"/>
            <a:ext cx="39057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Source Serif 4"/>
              <a:buNone/>
              <a:defRPr b="1" sz="5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96" name="Google Shape;9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5" y="344875"/>
            <a:ext cx="722575" cy="2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1pPr>
            <a:lvl2pPr lvl="1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buNone/>
              <a:defRPr>
                <a:solidFill>
                  <a:schemeClr val="lt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98" name="Google Shape;98;p29"/>
          <p:cNvCxnSpPr/>
          <p:nvPr/>
        </p:nvCxnSpPr>
        <p:spPr>
          <a:xfrm>
            <a:off x="4462650" y="343950"/>
            <a:ext cx="0" cy="4429200"/>
          </a:xfrm>
          <a:prstGeom prst="straightConnector1">
            <a:avLst/>
          </a:prstGeom>
          <a:noFill/>
          <a:ln cap="flat" cmpd="sng" w="9525">
            <a:solidFill>
              <a:srgbClr val="ADB8C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29"/>
          <p:cNvSpPr txBox="1"/>
          <p:nvPr>
            <p:ph idx="1" type="subTitle"/>
          </p:nvPr>
        </p:nvSpPr>
        <p:spPr>
          <a:xfrm>
            <a:off x="346425" y="4150050"/>
            <a:ext cx="3620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2">
  <p:cSld name="Título y objetos_1_1_1"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4" y="344882"/>
            <a:ext cx="722575" cy="21768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0"/>
          <p:cNvSpPr txBox="1"/>
          <p:nvPr>
            <p:ph type="title"/>
          </p:nvPr>
        </p:nvSpPr>
        <p:spPr>
          <a:xfrm>
            <a:off x="334525" y="2488200"/>
            <a:ext cx="71592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"/>
              <a:buNone/>
              <a:defRPr b="1" sz="7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ource Serif 4 Black"/>
              <a:buNone/>
              <a:defRPr sz="7200">
                <a:solidFill>
                  <a:schemeClr val="dk1"/>
                </a:solidFill>
                <a:latin typeface="Source Serif 4 Black"/>
                <a:ea typeface="Source Serif 4 Black"/>
                <a:cs typeface="Source Serif 4 Black"/>
                <a:sym typeface="Source Serif 4 Black"/>
              </a:defRPr>
            </a:lvl9pPr>
          </a:lstStyle>
          <a:p/>
        </p:txBody>
      </p:sp>
      <p:sp>
        <p:nvSpPr>
          <p:cNvPr id="103" name="Google Shape;103;p30"/>
          <p:cNvSpPr txBox="1"/>
          <p:nvPr>
            <p:ph idx="1" type="subTitle"/>
          </p:nvPr>
        </p:nvSpPr>
        <p:spPr>
          <a:xfrm>
            <a:off x="332678" y="2217775"/>
            <a:ext cx="4854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">
  <p:cSld name="1_Diapositiva de título">
    <p:bg>
      <p:bgPr>
        <a:solidFill>
          <a:schemeClr val="accen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1"/>
          <p:cNvSpPr txBox="1"/>
          <p:nvPr>
            <p:ph type="title"/>
          </p:nvPr>
        </p:nvSpPr>
        <p:spPr>
          <a:xfrm>
            <a:off x="325396" y="3601150"/>
            <a:ext cx="797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pic>
        <p:nvPicPr>
          <p:cNvPr id="106" name="Google Shape;10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75"/>
            <a:ext cx="445548" cy="1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con bordes redondeados">
  <p:cSld name="1_Diapositiva de título_1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2"/>
          <p:cNvSpPr/>
          <p:nvPr/>
        </p:nvSpPr>
        <p:spPr>
          <a:xfrm>
            <a:off x="111600" y="116708"/>
            <a:ext cx="8920800" cy="4910100"/>
          </a:xfrm>
          <a:prstGeom prst="roundRect">
            <a:avLst>
              <a:gd fmla="val 47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3826" y="344875"/>
            <a:ext cx="445548" cy="1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2"/>
          <p:cNvSpPr txBox="1"/>
          <p:nvPr>
            <p:ph type="title"/>
          </p:nvPr>
        </p:nvSpPr>
        <p:spPr>
          <a:xfrm>
            <a:off x="322210" y="3586800"/>
            <a:ext cx="85125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illa con imagen">
  <p:cSld name="1_Diapositiva de título_1_1">
    <p:bg>
      <p:bgPr>
        <a:solidFill>
          <a:schemeClr val="accen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3"/>
          <p:cNvSpPr/>
          <p:nvPr>
            <p:ph idx="2" type="pic"/>
          </p:nvPr>
        </p:nvSpPr>
        <p:spPr>
          <a:xfrm>
            <a:off x="5416150" y="894650"/>
            <a:ext cx="3393300" cy="3110700"/>
          </a:xfrm>
          <a:prstGeom prst="roundRect">
            <a:avLst>
              <a:gd fmla="val 5565" name="adj"/>
            </a:avLst>
          </a:prstGeom>
          <a:noFill/>
          <a:ln>
            <a:noFill/>
          </a:ln>
        </p:spPr>
      </p:sp>
      <p:sp>
        <p:nvSpPr>
          <p:cNvPr id="113" name="Google Shape;113;p33"/>
          <p:cNvSpPr txBox="1"/>
          <p:nvPr>
            <p:ph type="title"/>
          </p:nvPr>
        </p:nvSpPr>
        <p:spPr>
          <a:xfrm>
            <a:off x="324000" y="1158827"/>
            <a:ext cx="40650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0" marR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Source Serif 4"/>
              <a:buNone/>
              <a:defRPr b="1" sz="50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114" name="Google Shape;114;p33"/>
          <p:cNvSpPr txBox="1"/>
          <p:nvPr>
            <p:ph idx="1" type="subTitle"/>
          </p:nvPr>
        </p:nvSpPr>
        <p:spPr>
          <a:xfrm>
            <a:off x="324000" y="3418403"/>
            <a:ext cx="41022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b="1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5" name="Google Shape;115;p33"/>
          <p:cNvCxnSpPr/>
          <p:nvPr/>
        </p:nvCxnSpPr>
        <p:spPr>
          <a:xfrm>
            <a:off x="4903450" y="884250"/>
            <a:ext cx="0" cy="31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4874" y="344882"/>
            <a:ext cx="722575" cy="217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USTOM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4"/>
          <p:cNvSpPr txBox="1"/>
          <p:nvPr>
            <p:ph type="title"/>
          </p:nvPr>
        </p:nvSpPr>
        <p:spPr>
          <a:xfrm>
            <a:off x="2247300" y="2317200"/>
            <a:ext cx="4649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urce Serif 4"/>
              <a:buNone/>
              <a:defRPr b="1" sz="3000">
                <a:solidFill>
                  <a:schemeClr val="lt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E46962"/>
          </p15:clr>
        </p15:guide>
        <p15:guide id="2" pos="217">
          <p15:clr>
            <a:srgbClr val="E46962"/>
          </p15:clr>
        </p15:guide>
        <p15:guide id="3" pos="529">
          <p15:clr>
            <a:srgbClr val="E46962"/>
          </p15:clr>
        </p15:guide>
        <p15:guide id="4" pos="674">
          <p15:clr>
            <a:srgbClr val="E46962"/>
          </p15:clr>
        </p15:guide>
        <p15:guide id="5" pos="986">
          <p15:clr>
            <a:srgbClr val="E46962"/>
          </p15:clr>
        </p15:guide>
        <p15:guide id="6" pos="1130">
          <p15:clr>
            <a:srgbClr val="E46962"/>
          </p15:clr>
        </p15:guide>
        <p15:guide id="7" pos="1442">
          <p15:clr>
            <a:srgbClr val="E46962"/>
          </p15:clr>
        </p15:guide>
        <p15:guide id="8" pos="1586">
          <p15:clr>
            <a:srgbClr val="E46962"/>
          </p15:clr>
        </p15:guide>
        <p15:guide id="9" pos="1898">
          <p15:clr>
            <a:srgbClr val="E46962"/>
          </p15:clr>
        </p15:guide>
        <p15:guide id="10" pos="2043">
          <p15:clr>
            <a:srgbClr val="E46962"/>
          </p15:clr>
        </p15:guide>
        <p15:guide id="11" pos="2355">
          <p15:clr>
            <a:srgbClr val="E46962"/>
          </p15:clr>
        </p15:guide>
        <p15:guide id="12" pos="2499">
          <p15:clr>
            <a:srgbClr val="E46962"/>
          </p15:clr>
        </p15:guide>
        <p15:guide id="13" pos="2811">
          <p15:clr>
            <a:srgbClr val="E46962"/>
          </p15:clr>
        </p15:guide>
        <p15:guide id="14" pos="2955">
          <p15:clr>
            <a:srgbClr val="E46962"/>
          </p15:clr>
        </p15:guide>
        <p15:guide id="15" pos="3267">
          <p15:clr>
            <a:srgbClr val="E46962"/>
          </p15:clr>
        </p15:guide>
        <p15:guide id="16" pos="3412">
          <p15:clr>
            <a:srgbClr val="E46962"/>
          </p15:clr>
        </p15:guide>
        <p15:guide id="17" pos="3724">
          <p15:clr>
            <a:srgbClr val="E46962"/>
          </p15:clr>
        </p15:guide>
        <p15:guide id="18" pos="3868">
          <p15:clr>
            <a:srgbClr val="E46962"/>
          </p15:clr>
        </p15:guide>
        <p15:guide id="19" pos="4180">
          <p15:clr>
            <a:srgbClr val="E46962"/>
          </p15:clr>
        </p15:guide>
        <p15:guide id="20" pos="4324">
          <p15:clr>
            <a:srgbClr val="E46962"/>
          </p15:clr>
        </p15:guide>
        <p15:guide id="21" pos="4637">
          <p15:clr>
            <a:srgbClr val="E46962"/>
          </p15:clr>
        </p15:guide>
        <p15:guide id="22" pos="4781">
          <p15:clr>
            <a:srgbClr val="E46962"/>
          </p15:clr>
        </p15:guide>
        <p15:guide id="23" pos="5093">
          <p15:clr>
            <a:srgbClr val="E46962"/>
          </p15:clr>
        </p15:guide>
        <p15:guide id="24" pos="5237">
          <p15:clr>
            <a:srgbClr val="E46962"/>
          </p15:clr>
        </p15:guide>
        <p15:guide id="25" orient="horz" pos="564">
          <p15:clr>
            <a:srgbClr val="E46962"/>
          </p15:clr>
        </p15:guide>
        <p15:guide id="26" orient="horz" pos="709">
          <p15:clr>
            <a:srgbClr val="E46962"/>
          </p15:clr>
        </p15:guide>
        <p15:guide id="27" orient="horz" pos="1055">
          <p15:clr>
            <a:srgbClr val="E46962"/>
          </p15:clr>
        </p15:guide>
        <p15:guide id="28" orient="horz" pos="1201">
          <p15:clr>
            <a:srgbClr val="E46962"/>
          </p15:clr>
        </p15:guide>
        <p15:guide id="29" orient="horz" pos="1547">
          <p15:clr>
            <a:srgbClr val="E46962"/>
          </p15:clr>
        </p15:guide>
        <p15:guide id="30" orient="horz" pos="1693">
          <p15:clr>
            <a:srgbClr val="E46962"/>
          </p15:clr>
        </p15:guide>
        <p15:guide id="31" orient="horz" pos="2039">
          <p15:clr>
            <a:srgbClr val="E46962"/>
          </p15:clr>
        </p15:guide>
        <p15:guide id="32" orient="horz" pos="2185">
          <p15:clr>
            <a:srgbClr val="E46962"/>
          </p15:clr>
        </p15:guide>
        <p15:guide id="33" orient="horz" pos="2531">
          <p15:clr>
            <a:srgbClr val="E46962"/>
          </p15:clr>
        </p15:guide>
        <p15:guide id="34" orient="horz" pos="2676">
          <p15:clr>
            <a:srgbClr val="E46962"/>
          </p15:clr>
        </p15:guide>
        <p15:guide id="35" orient="horz" pos="74">
          <p15:clr>
            <a:srgbClr val="E46962"/>
          </p15:clr>
        </p15:guide>
        <p15:guide id="36" pos="74">
          <p15:clr>
            <a:srgbClr val="E46962"/>
          </p15:clr>
        </p15:guide>
        <p15:guide id="37" pos="5693">
          <p15:clr>
            <a:srgbClr val="E46962"/>
          </p15:clr>
        </p15:guide>
        <p15:guide id="38" orient="horz" pos="3020">
          <p15:clr>
            <a:srgbClr val="E46962"/>
          </p15:clr>
        </p15:guide>
        <p15:guide id="39" orient="horz" pos="3167">
          <p15:clr>
            <a:srgbClr val="E46962"/>
          </p15:clr>
        </p15:guide>
        <p15:guide id="40" pos="5549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7">
          <p15:clr>
            <a:srgbClr val="E46962"/>
          </p15:clr>
        </p15:guide>
        <p15:guide id="2" pos="217">
          <p15:clr>
            <a:srgbClr val="E46962"/>
          </p15:clr>
        </p15:guide>
        <p15:guide id="3" pos="529">
          <p15:clr>
            <a:srgbClr val="E46962"/>
          </p15:clr>
        </p15:guide>
        <p15:guide id="4" pos="674">
          <p15:clr>
            <a:srgbClr val="E46962"/>
          </p15:clr>
        </p15:guide>
        <p15:guide id="5" pos="986">
          <p15:clr>
            <a:srgbClr val="E46962"/>
          </p15:clr>
        </p15:guide>
        <p15:guide id="6" pos="1130">
          <p15:clr>
            <a:srgbClr val="E46962"/>
          </p15:clr>
        </p15:guide>
        <p15:guide id="7" pos="1442">
          <p15:clr>
            <a:srgbClr val="E46962"/>
          </p15:clr>
        </p15:guide>
        <p15:guide id="8" pos="1586">
          <p15:clr>
            <a:srgbClr val="E46962"/>
          </p15:clr>
        </p15:guide>
        <p15:guide id="9" pos="1898">
          <p15:clr>
            <a:srgbClr val="E46962"/>
          </p15:clr>
        </p15:guide>
        <p15:guide id="10" pos="2043">
          <p15:clr>
            <a:srgbClr val="E46962"/>
          </p15:clr>
        </p15:guide>
        <p15:guide id="11" pos="2355">
          <p15:clr>
            <a:srgbClr val="E46962"/>
          </p15:clr>
        </p15:guide>
        <p15:guide id="12" pos="2499">
          <p15:clr>
            <a:srgbClr val="E46962"/>
          </p15:clr>
        </p15:guide>
        <p15:guide id="13" pos="2811">
          <p15:clr>
            <a:srgbClr val="E46962"/>
          </p15:clr>
        </p15:guide>
        <p15:guide id="14" pos="2955">
          <p15:clr>
            <a:srgbClr val="E46962"/>
          </p15:clr>
        </p15:guide>
        <p15:guide id="15" pos="3267">
          <p15:clr>
            <a:srgbClr val="E46962"/>
          </p15:clr>
        </p15:guide>
        <p15:guide id="16" pos="3412">
          <p15:clr>
            <a:srgbClr val="E46962"/>
          </p15:clr>
        </p15:guide>
        <p15:guide id="17" pos="3724">
          <p15:clr>
            <a:srgbClr val="E46962"/>
          </p15:clr>
        </p15:guide>
        <p15:guide id="18" pos="3868">
          <p15:clr>
            <a:srgbClr val="E46962"/>
          </p15:clr>
        </p15:guide>
        <p15:guide id="19" pos="4180">
          <p15:clr>
            <a:srgbClr val="E46962"/>
          </p15:clr>
        </p15:guide>
        <p15:guide id="20" pos="4324">
          <p15:clr>
            <a:srgbClr val="E46962"/>
          </p15:clr>
        </p15:guide>
        <p15:guide id="21" pos="4637">
          <p15:clr>
            <a:srgbClr val="E46962"/>
          </p15:clr>
        </p15:guide>
        <p15:guide id="22" pos="4781">
          <p15:clr>
            <a:srgbClr val="E46962"/>
          </p15:clr>
        </p15:guide>
        <p15:guide id="23" pos="5093">
          <p15:clr>
            <a:srgbClr val="E46962"/>
          </p15:clr>
        </p15:guide>
        <p15:guide id="24" pos="5237">
          <p15:clr>
            <a:srgbClr val="E46962"/>
          </p15:clr>
        </p15:guide>
        <p15:guide id="25" orient="horz" pos="564">
          <p15:clr>
            <a:srgbClr val="E46962"/>
          </p15:clr>
        </p15:guide>
        <p15:guide id="26" orient="horz" pos="709">
          <p15:clr>
            <a:srgbClr val="E46962"/>
          </p15:clr>
        </p15:guide>
        <p15:guide id="27" orient="horz" pos="1055">
          <p15:clr>
            <a:srgbClr val="E46962"/>
          </p15:clr>
        </p15:guide>
        <p15:guide id="28" orient="horz" pos="1201">
          <p15:clr>
            <a:srgbClr val="E46962"/>
          </p15:clr>
        </p15:guide>
        <p15:guide id="29" orient="horz" pos="1547">
          <p15:clr>
            <a:srgbClr val="E46962"/>
          </p15:clr>
        </p15:guide>
        <p15:guide id="30" orient="horz" pos="1693">
          <p15:clr>
            <a:srgbClr val="E46962"/>
          </p15:clr>
        </p15:guide>
        <p15:guide id="31" orient="horz" pos="2039">
          <p15:clr>
            <a:srgbClr val="E46962"/>
          </p15:clr>
        </p15:guide>
        <p15:guide id="32" orient="horz" pos="2185">
          <p15:clr>
            <a:srgbClr val="E46962"/>
          </p15:clr>
        </p15:guide>
        <p15:guide id="33" orient="horz" pos="2531">
          <p15:clr>
            <a:srgbClr val="E46962"/>
          </p15:clr>
        </p15:guide>
        <p15:guide id="34" orient="horz" pos="2676">
          <p15:clr>
            <a:srgbClr val="E46962"/>
          </p15:clr>
        </p15:guide>
        <p15:guide id="35" orient="horz" pos="74">
          <p15:clr>
            <a:srgbClr val="E46962"/>
          </p15:clr>
        </p15:guide>
        <p15:guide id="36" pos="74">
          <p15:clr>
            <a:srgbClr val="E46962"/>
          </p15:clr>
        </p15:guide>
        <p15:guide id="37" pos="5693">
          <p15:clr>
            <a:srgbClr val="E46962"/>
          </p15:clr>
        </p15:guide>
        <p15:guide id="38" orient="horz" pos="3020">
          <p15:clr>
            <a:srgbClr val="E46962"/>
          </p15:clr>
        </p15:guide>
        <p15:guide id="39" orient="horz" pos="3167">
          <p15:clr>
            <a:srgbClr val="E46962"/>
          </p15:clr>
        </p15:guide>
        <p15:guide id="40" pos="554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5"/>
          <p:cNvSpPr txBox="1"/>
          <p:nvPr>
            <p:ph type="title"/>
          </p:nvPr>
        </p:nvSpPr>
        <p:spPr>
          <a:xfrm>
            <a:off x="334525" y="2139601"/>
            <a:ext cx="5681100" cy="20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Arial"/>
              <a:buNone/>
            </a:pPr>
            <a:r>
              <a:rPr lang="es" sz="6200">
                <a:solidFill>
                  <a:schemeClr val="lt2"/>
                </a:solidFill>
              </a:rPr>
              <a:t>Análisis NPS térmico</a:t>
            </a:r>
            <a:endParaRPr sz="6200"/>
          </a:p>
        </p:txBody>
      </p:sp>
      <p:sp>
        <p:nvSpPr>
          <p:cNvPr id="124" name="Google Shape;124;p35"/>
          <p:cNvSpPr txBox="1"/>
          <p:nvPr>
            <p:ph idx="1" type="subTitle"/>
          </p:nvPr>
        </p:nvSpPr>
        <p:spPr>
          <a:xfrm>
            <a:off x="348425" y="1798700"/>
            <a:ext cx="4421700" cy="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BBVA México · ENTERPRISE WEB · 2026-03-01 -&gt; 2026-03-29</a:t>
            </a:r>
            <a:endParaRPr/>
          </a:p>
        </p:txBody>
      </p:sp>
      <p:pic>
        <p:nvPicPr>
          <p:cNvPr id="125" name="Google Shape;125;p35" title="graphic-glass.png"/>
          <p:cNvPicPr preferRelativeResize="0"/>
          <p:nvPr/>
        </p:nvPicPr>
        <p:blipFill rotWithShape="1">
          <a:blip r:embed="rId3">
            <a:alphaModFix/>
          </a:blip>
          <a:srcRect b="9549" l="10790" r="8139" t="4886"/>
          <a:stretch/>
        </p:blipFill>
        <p:spPr>
          <a:xfrm>
            <a:off x="6003250" y="1675450"/>
            <a:ext cx="2806125" cy="296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/>
          <p:nvPr/>
        </p:nvSpPr>
        <p:spPr>
          <a:xfrm>
            <a:off x="2885175" y="1300400"/>
            <a:ext cx="5924100" cy="3096300"/>
          </a:xfrm>
          <a:prstGeom prst="roundRect">
            <a:avLst>
              <a:gd fmla="val 3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139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1" name="Google Shape;131;p36"/>
          <p:cNvSpPr/>
          <p:nvPr/>
        </p:nvSpPr>
        <p:spPr>
          <a:xfrm>
            <a:off x="1722332" y="2005319"/>
            <a:ext cx="14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6"/>
          <p:cNvSpPr/>
          <p:nvPr/>
        </p:nvSpPr>
        <p:spPr>
          <a:xfrm>
            <a:off x="2885175" y="1188000"/>
            <a:ext cx="5924100" cy="3939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000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Comparativa de indicadores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Febrero 2026 frente a marzo 2026</a:t>
            </a:r>
            <a:endParaRPr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33" name="Google Shape;133;p36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El NPS clásico baja 3,69 puntos y el peso detractor aumenta 2,16 pp.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34" name="Google Shape;134;p36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Marzo suma comentarios, pero empeoran los indicadores de experiencia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35" name="Google Shape;135;p36"/>
          <p:cNvSpPr txBox="1"/>
          <p:nvPr/>
        </p:nvSpPr>
        <p:spPr>
          <a:xfrm>
            <a:off x="3242700" y="1816350"/>
            <a:ext cx="52281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9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graphicFrame>
        <p:nvGraphicFramePr>
          <p:cNvPr id="136" name="Google Shape;136;p36"/>
          <p:cNvGraphicFramePr/>
          <p:nvPr/>
        </p:nvGraphicFramePr>
        <p:xfrm>
          <a:off x="3242700" y="181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{D341F570-D44C-4058-9E48-B8DBE6B6AEFC}</a:tableStyleId>
              </a:tblPr>
              <a:tblGrid>
                <a:gridCol w="1307025"/>
                <a:gridCol w="1307025"/>
                <a:gridCol w="1307025"/>
                <a:gridCol w="1307025"/>
              </a:tblGrid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Indicador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Febrero 2026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Marzo 2026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Variación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COMENTARIOS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12.577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21.967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+9.390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SCORE MEDIO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8,53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8,39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-0,14 pts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NPS CLÁSICO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59,76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56,07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-3,69 pts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DETRACTORES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12,72%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14,88%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+2,16 pp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PROMOTORES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72,49%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70,96%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-1,53 pp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36"/>
          <p:cNvSpPr/>
          <p:nvPr/>
        </p:nvSpPr>
        <p:spPr>
          <a:xfrm>
            <a:off x="116899" y="958475"/>
            <a:ext cx="2616300" cy="1707000"/>
          </a:xfrm>
          <a:prstGeom prst="roundRect">
            <a:avLst>
              <a:gd fmla="val 7646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t" bIns="0" lIns="144000" spcFirstLastPara="1" rIns="72000" wrap="square" tIns="25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Mayor fricción</a:t>
            </a:r>
            <a:endParaRPr sz="16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36"/>
          <p:cNvSpPr/>
          <p:nvPr/>
        </p:nvSpPr>
        <p:spPr>
          <a:xfrm>
            <a:off x="116906" y="958475"/>
            <a:ext cx="2616300" cy="1707000"/>
          </a:xfrm>
          <a:prstGeom prst="roundRect">
            <a:avLst>
              <a:gd fmla="val 7646" name="adj"/>
            </a:avLst>
          </a:prstGeom>
          <a:noFill/>
          <a:ln>
            <a:noFill/>
          </a:ln>
        </p:spPr>
        <p:txBody>
          <a:bodyPr anchorCtr="0" anchor="t" bIns="0" lIns="144000" spcFirstLastPara="1" rIns="72000" wrap="square" tIns="25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 mayor fricción del periodo se concentra en Venta Forzosa.</a:t>
            </a:r>
            <a:endParaRPr b="1" sz="10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9" name="Google Shape;139;p36" title="bul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855" y="2237950"/>
            <a:ext cx="420185" cy="269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6"/>
          <p:cNvSpPr/>
          <p:nvPr/>
        </p:nvSpPr>
        <p:spPr>
          <a:xfrm>
            <a:off x="116900" y="2687300"/>
            <a:ext cx="2616300" cy="1764600"/>
          </a:xfrm>
          <a:prstGeom prst="roundRect">
            <a:avLst>
              <a:gd fmla="val 764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t" bIns="0" lIns="144000" spcFirstLastPara="1" rIns="72000" wrap="square" tIns="25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Mejor señal</a:t>
            </a:r>
            <a:endParaRPr sz="16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1" name="Google Shape;141;p36" title="searching-loc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8703" y="4090393"/>
            <a:ext cx="442500" cy="31281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6"/>
          <p:cNvSpPr/>
          <p:nvPr/>
        </p:nvSpPr>
        <p:spPr>
          <a:xfrm>
            <a:off x="116900" y="2687300"/>
            <a:ext cx="2375700" cy="2031300"/>
          </a:xfrm>
          <a:prstGeom prst="roundRect">
            <a:avLst>
              <a:gd fmla="val 7646" name="adj"/>
            </a:avLst>
          </a:prstGeom>
          <a:noFill/>
          <a:ln>
            <a:noFill/>
          </a:ln>
        </p:spPr>
        <p:txBody>
          <a:bodyPr anchorCtr="0" anchor="t" bIns="0" lIns="144000" spcFirstLastPara="1" rIns="72000" wrap="square" tIns="25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 mejor señal de experiencia se observa en Practicidad/ facilidad de uso.</a:t>
            </a:r>
            <a:endParaRPr b="1" sz="10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/>
          <p:nvPr/>
        </p:nvSpPr>
        <p:spPr>
          <a:xfrm>
            <a:off x="2885175" y="1300400"/>
            <a:ext cx="5924100" cy="3096300"/>
          </a:xfrm>
          <a:prstGeom prst="roundRect">
            <a:avLst>
              <a:gd fmla="val 3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139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8" name="Google Shape;148;p37"/>
          <p:cNvSpPr/>
          <p:nvPr/>
        </p:nvSpPr>
        <p:spPr>
          <a:xfrm>
            <a:off x="1810417" y="2234844"/>
            <a:ext cx="1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7"/>
          <p:cNvSpPr/>
          <p:nvPr/>
        </p:nvSpPr>
        <p:spPr>
          <a:xfrm>
            <a:off x="2885175" y="1188000"/>
            <a:ext cx="5924100" cy="3939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000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NPS clásico y distribución por grupo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As-Is Marzo 2026</a:t>
            </a:r>
            <a:endParaRPr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50" name="Google Shape;150;p37"/>
          <p:cNvSpPr txBox="1"/>
          <p:nvPr/>
        </p:nvSpPr>
        <p:spPr>
          <a:xfrm>
            <a:off x="299450" y="1555244"/>
            <a:ext cx="22389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-166200" lvl="0" marL="269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El periodo arranca con NPS clásico 53,76 y termina en 41,07.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  <a:p>
            <a:pPr indent="-166200" lvl="0" marL="269999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El peso detractor pasa de 14,45% a 21,43%.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  <a:p>
            <a:pPr indent="-166200" lvl="0" marL="269999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NPS Clásico = % Promotores - % Detractores. Rango: -100 a +100.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  <a:p>
            <a:pPr indent="-166200" lvl="0" marL="269999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1391"/>
              </a:buClr>
              <a:buSzPts val="1200"/>
              <a:buFont typeface="Source Serif 4 Light"/>
              <a:buChar char="➢"/>
            </a:pP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Se utiliza para seguir la señal neta del período.</a:t>
            </a:r>
            <a:r>
              <a:rPr lang="es" sz="1200">
                <a:solidFill>
                  <a:srgbClr val="001391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 </a:t>
            </a:r>
            <a:endParaRPr sz="12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51" name="Google Shape;151;p37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Del inicio al cierre del periodo, el NPS clásico cae 12,69 puntos.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52" name="Google Shape;152;p37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El NPS clásico cae con un aumento claro del peso detractor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153" name="Google Shape;1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642" y="1816350"/>
            <a:ext cx="3560217" cy="220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/>
          <p:nvPr/>
        </p:nvSpPr>
        <p:spPr>
          <a:xfrm>
            <a:off x="396450" y="1300400"/>
            <a:ext cx="8412900" cy="3096300"/>
          </a:xfrm>
          <a:prstGeom prst="roundRect">
            <a:avLst>
              <a:gd fmla="val 30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139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59" name="Google Shape;159;p38"/>
          <p:cNvSpPr/>
          <p:nvPr/>
        </p:nvSpPr>
        <p:spPr>
          <a:xfrm>
            <a:off x="1810417" y="2234844"/>
            <a:ext cx="129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8"/>
          <p:cNvSpPr/>
          <p:nvPr/>
        </p:nvSpPr>
        <p:spPr>
          <a:xfrm>
            <a:off x="396375" y="1188000"/>
            <a:ext cx="8412900" cy="3939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000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Top temas detractores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Comentarios detractores del periodo analizado</a:t>
            </a:r>
            <a:endParaRPr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61" name="Google Shape;161;p38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Los comentarios concentran problemas de portal, complejidad y operaciones que no se pueden completar.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62" name="Google Shape;162;p38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Los detractores repiten fricciones de acceso, uso y pagos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63" name="Google Shape;163;p38"/>
          <p:cNvSpPr txBox="1"/>
          <p:nvPr/>
        </p:nvSpPr>
        <p:spPr>
          <a:xfrm>
            <a:off x="3242700" y="1816350"/>
            <a:ext cx="5228100" cy="22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9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graphicFrame>
        <p:nvGraphicFramePr>
          <p:cNvPr id="164" name="Google Shape;164;p38"/>
          <p:cNvGraphicFramePr/>
          <p:nvPr/>
        </p:nvGraphicFramePr>
        <p:xfrm>
          <a:off x="644800" y="181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{D341F570-D44C-4058-9E48-B8DBE6B6AEFC}</a:tableStyleId>
              </a:tblPr>
              <a:tblGrid>
                <a:gridCol w="485425"/>
                <a:gridCol w="2989375"/>
                <a:gridCol w="2123425"/>
                <a:gridCol w="2227775"/>
              </a:tblGrid>
              <a:tr h="6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Tema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terms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Ejemplo 1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Ejemplo 2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6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cuenta, pagina, portal, fallas, aplicacion, sirve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abrir una cuenta nueva esta atada a capri…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buena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6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es, portal, amigable, cada, complicado, es amigable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 tremendamente dificil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necesito que alguien me escuche y resuelv…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63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hacer, deja, puedo hacer, hacer pagos, pagos, deja hacer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los servicios digitales y los alcances de…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 mietrda no me deja cerrar sesion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9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Funcionamiento continuo lidera el deterioro frente a la base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344875" y="1400373"/>
            <a:ext cx="4180500" cy="3075600"/>
          </a:xfrm>
          <a:prstGeom prst="roundRect">
            <a:avLst>
              <a:gd fmla="val 32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347824" y="1151104"/>
            <a:ext cx="4180500" cy="3843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Delta NPS Clásico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Periodo actual frente a base histórica anterior</a:t>
            </a:r>
            <a:endParaRPr i="1" sz="10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4603425" y="1383254"/>
            <a:ext cx="4300800" cy="3092400"/>
          </a:xfrm>
          <a:prstGeom prst="roundRect">
            <a:avLst>
              <a:gd fmla="val 32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4609158" y="1150729"/>
            <a:ext cx="4300800" cy="384300"/>
          </a:xfrm>
          <a:prstGeom prst="round2SameRect">
            <a:avLst>
              <a:gd fmla="val 15026" name="adj1"/>
              <a:gd fmla="val 0" name="adj2"/>
            </a:avLst>
          </a:prstGeom>
          <a:solidFill>
            <a:srgbClr val="0013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Qué ha cambiado en Palanca</a:t>
            </a:r>
            <a:br>
              <a:rPr b="1" lang="es" sz="13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s" sz="900">
                <a:solidFill>
                  <a:srgbClr val="FFFFFF"/>
                </a:solidFill>
                <a:latin typeface="Source Serif 4 Light"/>
                <a:ea typeface="Source Serif 4 Light"/>
                <a:cs typeface="Source Serif 4 Light"/>
                <a:sym typeface="Source Serif 4 Light"/>
              </a:rPr>
              <a:t>Actual 2026-03-01 -&gt; 2026-03-29 · base 2026-01-01 -&gt; 2026-02-22</a:t>
            </a:r>
            <a:endParaRPr b="1"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39"/>
          <p:cNvSpPr txBox="1"/>
          <p:nvPr/>
        </p:nvSpPr>
        <p:spPr>
          <a:xfrm>
            <a:off x="4854100" y="1703804"/>
            <a:ext cx="3810900" cy="24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900">
              <a:solidFill>
                <a:srgbClr val="001391"/>
              </a:solidFill>
              <a:latin typeface="Source Serif 4 Light"/>
              <a:ea typeface="Source Serif 4 Light"/>
              <a:cs typeface="Source Serif 4 Light"/>
              <a:sym typeface="Source Serif 4 Light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Las cuatro palancas mostradas presentan un Delta NPS Clásico negativo.</a:t>
            </a:r>
            <a:endParaRPr b="1" sz="11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176" name="Google Shape;176;p39"/>
          <p:cNvGraphicFramePr/>
          <p:nvPr/>
        </p:nvGraphicFramePr>
        <p:xfrm>
          <a:off x="4691600" y="17038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{D341F570-D44C-4058-9E48-B8DBE6B6AEFC}</a:tableStyleId>
              </a:tblPr>
              <a:tblGrid>
                <a:gridCol w="912425"/>
                <a:gridCol w="582975"/>
                <a:gridCol w="572550"/>
                <a:gridCol w="635150"/>
                <a:gridCol w="635150"/>
                <a:gridCol w="635150"/>
              </a:tblGrid>
              <a:tr h="49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Valor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Delta NPS Clásico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NPS actual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NPS base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 actual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 base</a:t>
                      </a:r>
                      <a:endParaRPr b="1" sz="900"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001391"/>
                    </a:solidFill>
                  </a:tcPr>
                </a:tc>
              </a:tr>
              <a:tr h="49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Agregar funcionalidad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-1,01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6,48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7,50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89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252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9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Seguridad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-0,74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7,37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8,11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106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270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9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Funcionamiento continuo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-0,74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4,34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5,08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532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1.952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9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Línea BBVA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-0,70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5,53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6,23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38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00139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136</a:t>
                      </a:r>
                      <a:endParaRPr sz="900">
                        <a:solidFill>
                          <a:srgbClr val="00139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7" name="Google Shape;1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00" y="1763101"/>
            <a:ext cx="3810900" cy="2356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Funcionamiento continuo concentra el mayor dolor en la Web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83" name="Google Shape;183;p40"/>
          <p:cNvSpPr/>
          <p:nvPr/>
        </p:nvSpPr>
        <p:spPr>
          <a:xfrm>
            <a:off x="464762" y="1887454"/>
            <a:ext cx="12438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Volumen de comentarios</a:t>
            </a:r>
            <a:endParaRPr sz="11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84" name="Google Shape;184;p40"/>
          <p:cNvSpPr/>
          <p:nvPr/>
        </p:nvSpPr>
        <p:spPr>
          <a:xfrm>
            <a:off x="1929613" y="1341346"/>
            <a:ext cx="137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Funcionamiento continuo</a:t>
            </a:r>
            <a:endParaRPr sz="11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85" name="Google Shape;185;p40"/>
          <p:cNvCxnSpPr/>
          <p:nvPr/>
        </p:nvCxnSpPr>
        <p:spPr>
          <a:xfrm>
            <a:off x="3442065" y="1254925"/>
            <a:ext cx="9300" cy="2896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40"/>
          <p:cNvCxnSpPr/>
          <p:nvPr/>
        </p:nvCxnSpPr>
        <p:spPr>
          <a:xfrm>
            <a:off x="5096093" y="1254925"/>
            <a:ext cx="9300" cy="2896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40"/>
          <p:cNvCxnSpPr/>
          <p:nvPr/>
        </p:nvCxnSpPr>
        <p:spPr>
          <a:xfrm>
            <a:off x="6750121" y="1254925"/>
            <a:ext cx="9300" cy="2896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8" name="Google Shape;188;p40"/>
          <p:cNvSpPr/>
          <p:nvPr/>
        </p:nvSpPr>
        <p:spPr>
          <a:xfrm>
            <a:off x="1880400" y="3360214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Detractores del periodo: 63,65%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40"/>
          <p:cNvSpPr/>
          <p:nvPr/>
        </p:nvSpPr>
        <p:spPr>
          <a:xfrm>
            <a:off x="344875" y="4582862"/>
            <a:ext cx="8565000" cy="4227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Funcionamiento continuo combina el menor score con el mayor porcentaje de detractores.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90" name="Google Shape;190;p40"/>
          <p:cNvSpPr/>
          <p:nvPr/>
        </p:nvSpPr>
        <p:spPr>
          <a:xfrm>
            <a:off x="3574781" y="1336882"/>
            <a:ext cx="137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Pagos/ Transferencias</a:t>
            </a:r>
            <a:endParaRPr sz="11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1" name="Google Shape;191;p40"/>
          <p:cNvSpPr/>
          <p:nvPr/>
        </p:nvSpPr>
        <p:spPr>
          <a:xfrm>
            <a:off x="5249161" y="1330221"/>
            <a:ext cx="137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Agregar funcionalidad</a:t>
            </a:r>
            <a:endParaRPr sz="11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2" name="Google Shape;192;p40"/>
          <p:cNvSpPr/>
          <p:nvPr/>
        </p:nvSpPr>
        <p:spPr>
          <a:xfrm>
            <a:off x="6894329" y="1325757"/>
            <a:ext cx="137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Uso</a:t>
            </a:r>
            <a:endParaRPr sz="11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3" name="Google Shape;193;p40"/>
          <p:cNvSpPr/>
          <p:nvPr/>
        </p:nvSpPr>
        <p:spPr>
          <a:xfrm>
            <a:off x="447437" y="2679415"/>
            <a:ext cx="12438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Score de experiencia</a:t>
            </a:r>
            <a:endParaRPr sz="11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4" name="Google Shape;194;p40"/>
          <p:cNvSpPr/>
          <p:nvPr/>
        </p:nvSpPr>
        <p:spPr>
          <a:xfrm>
            <a:off x="447437" y="3471376"/>
            <a:ext cx="12438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Peso de detractores</a:t>
            </a:r>
            <a:endParaRPr sz="11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5" name="Google Shape;195;p40"/>
          <p:cNvSpPr/>
          <p:nvPr/>
        </p:nvSpPr>
        <p:spPr>
          <a:xfrm>
            <a:off x="1880400" y="2573889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Score del 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canal Web: 4,3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40"/>
          <p:cNvSpPr/>
          <p:nvPr/>
        </p:nvSpPr>
        <p:spPr>
          <a:xfrm>
            <a:off x="1880400" y="1787565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531 comentarios </a:t>
            </a: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dentro del periodo analizado</a:t>
            </a: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000">
              <a:solidFill>
                <a:srgbClr val="66666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97" name="Google Shape;197;p40"/>
          <p:cNvSpPr/>
          <p:nvPr/>
        </p:nvSpPr>
        <p:spPr>
          <a:xfrm>
            <a:off x="3547023" y="3368470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Detractores del periodo: 52,81%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40"/>
          <p:cNvSpPr/>
          <p:nvPr/>
        </p:nvSpPr>
        <p:spPr>
          <a:xfrm>
            <a:off x="3547023" y="2582145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Score del 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canal Web: 5,3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40"/>
          <p:cNvSpPr/>
          <p:nvPr/>
        </p:nvSpPr>
        <p:spPr>
          <a:xfrm>
            <a:off x="3547023" y="1795821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356 comentarios </a:t>
            </a: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dentro del periodo analizado</a:t>
            </a: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000">
              <a:solidFill>
                <a:srgbClr val="66666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0" name="Google Shape;200;p40"/>
          <p:cNvSpPr/>
          <p:nvPr/>
        </p:nvSpPr>
        <p:spPr>
          <a:xfrm>
            <a:off x="5193761" y="3369298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Detractores del periodo: 37,08%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40"/>
          <p:cNvSpPr/>
          <p:nvPr/>
        </p:nvSpPr>
        <p:spPr>
          <a:xfrm>
            <a:off x="5193761" y="2582973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Score del 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canal Web: 6,5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40"/>
          <p:cNvSpPr/>
          <p:nvPr/>
        </p:nvSpPr>
        <p:spPr>
          <a:xfrm>
            <a:off x="5193761" y="1796649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89 comentarios </a:t>
            </a: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dentro del periodo analizado</a:t>
            </a: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000">
              <a:solidFill>
                <a:srgbClr val="66666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03" name="Google Shape;203;p40"/>
          <p:cNvSpPr/>
          <p:nvPr/>
        </p:nvSpPr>
        <p:spPr>
          <a:xfrm>
            <a:off x="6860384" y="3377554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Detractores del periodo: 18,16%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40"/>
          <p:cNvSpPr/>
          <p:nvPr/>
        </p:nvSpPr>
        <p:spPr>
          <a:xfrm>
            <a:off x="6860384" y="2591229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Score del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canal Web: 8,2</a:t>
            </a: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0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40"/>
          <p:cNvSpPr/>
          <p:nvPr/>
        </p:nvSpPr>
        <p:spPr>
          <a:xfrm>
            <a:off x="6860384" y="1804905"/>
            <a:ext cx="1453500" cy="68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2.384 comentarios </a:t>
            </a: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dentro del periodo analizado</a:t>
            </a:r>
            <a:r>
              <a:rPr lang="es" sz="1000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000">
              <a:solidFill>
                <a:srgbClr val="666666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1"/>
          <p:cNvSpPr txBox="1"/>
          <p:nvPr/>
        </p:nvSpPr>
        <p:spPr>
          <a:xfrm>
            <a:off x="8812299" y="4770250"/>
            <a:ext cx="3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41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Causalidad en t</a:t>
            </a:r>
            <a:r>
              <a:rPr b="1" lang="es" sz="24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ópico NPS ancla: Funcionamiento Continuo &gt; No funciona bien/ falla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12" name="Google Shape;212;p41"/>
          <p:cNvSpPr/>
          <p:nvPr/>
        </p:nvSpPr>
        <p:spPr>
          <a:xfrm>
            <a:off x="571604" y="1105139"/>
            <a:ext cx="2364000" cy="1388100"/>
          </a:xfrm>
          <a:prstGeom prst="roundRect">
            <a:avLst>
              <a:gd fmla="val 76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41"/>
          <p:cNvSpPr txBox="1"/>
          <p:nvPr/>
        </p:nvSpPr>
        <p:spPr>
          <a:xfrm>
            <a:off x="773404" y="1612914"/>
            <a:ext cx="1847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66,31%</a:t>
            </a:r>
            <a:endParaRPr b="1" sz="3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14" name="Google Shape;214;p41"/>
          <p:cNvSpPr txBox="1"/>
          <p:nvPr/>
        </p:nvSpPr>
        <p:spPr>
          <a:xfrm>
            <a:off x="765350" y="1196700"/>
            <a:ext cx="201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PROB. DE DETRACCIÓN</a:t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41"/>
          <p:cNvSpPr/>
          <p:nvPr/>
        </p:nvSpPr>
        <p:spPr>
          <a:xfrm>
            <a:off x="572079" y="2860789"/>
            <a:ext cx="2364000" cy="1388100"/>
          </a:xfrm>
          <a:prstGeom prst="roundRect">
            <a:avLst>
              <a:gd fmla="val 76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41"/>
          <p:cNvSpPr txBox="1"/>
          <p:nvPr/>
        </p:nvSpPr>
        <p:spPr>
          <a:xfrm>
            <a:off x="773879" y="3368564"/>
            <a:ext cx="1847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0,16</a:t>
            </a:r>
            <a:endParaRPr b="1" sz="3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17" name="Google Shape;217;p41"/>
          <p:cNvSpPr txBox="1"/>
          <p:nvPr/>
        </p:nvSpPr>
        <p:spPr>
          <a:xfrm>
            <a:off x="765943" y="2952350"/>
            <a:ext cx="201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CONFIANZA</a:t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8" name="Google Shape;218;p41"/>
          <p:cNvCxnSpPr/>
          <p:nvPr/>
        </p:nvCxnSpPr>
        <p:spPr>
          <a:xfrm>
            <a:off x="3162600" y="1087843"/>
            <a:ext cx="0" cy="3198900"/>
          </a:xfrm>
          <a:prstGeom prst="straightConnector1">
            <a:avLst/>
          </a:prstGeom>
          <a:noFill/>
          <a:ln cap="flat" cmpd="sng" w="11800">
            <a:solidFill>
              <a:srgbClr val="00139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41"/>
          <p:cNvSpPr/>
          <p:nvPr/>
        </p:nvSpPr>
        <p:spPr>
          <a:xfrm>
            <a:off x="344875" y="4477696"/>
            <a:ext cx="8565000" cy="5280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VÍNCULOS VALIDADOS: 1 · lectura Por Subpalanca.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20" name="Google Shape;220;p41"/>
          <p:cNvSpPr/>
          <p:nvPr/>
        </p:nvSpPr>
        <p:spPr>
          <a:xfrm>
            <a:off x="3389600" y="1071550"/>
            <a:ext cx="5157300" cy="503100"/>
          </a:xfrm>
          <a:prstGeom prst="roundRect">
            <a:avLst>
              <a:gd fmla="val 7384" name="adj"/>
            </a:avLst>
          </a:prstGeom>
          <a:solidFill>
            <a:srgbClr val="85C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1600">
                <a:solidFill>
                  <a:srgbClr val="00288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NPS 0: servicio de estado de cuenta no disponible</a:t>
            </a:r>
            <a:endParaRPr b="1" sz="1600">
              <a:solidFill>
                <a:srgbClr val="00288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21" name="Google Shape;221;p41"/>
          <p:cNvSpPr/>
          <p:nvPr/>
        </p:nvSpPr>
        <p:spPr>
          <a:xfrm>
            <a:off x="3389600" y="1675450"/>
            <a:ext cx="5157300" cy="2573400"/>
          </a:xfrm>
          <a:prstGeom prst="roundRect">
            <a:avLst>
              <a:gd fmla="val 477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-3175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➢"/>
            </a:pP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Evidencia 1 · INC000104336908: Al generar consulta de estado de cuenta, el sistema envía un mensaje de error de forma intermitente: Servicio temporalmente no…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/>
        </p:nvSpPr>
        <p:spPr>
          <a:xfrm>
            <a:off x="8812299" y="4770250"/>
            <a:ext cx="3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42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Causalidad en t</a:t>
            </a:r>
            <a:r>
              <a:rPr b="1" lang="es" sz="2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ópico NPS ancla: Pagos/ Transferencias &gt; Problemas con transferencias</a:t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28" name="Google Shape;228;p42"/>
          <p:cNvSpPr/>
          <p:nvPr/>
        </p:nvSpPr>
        <p:spPr>
          <a:xfrm>
            <a:off x="571604" y="1105139"/>
            <a:ext cx="2364000" cy="1388100"/>
          </a:xfrm>
          <a:prstGeom prst="roundRect">
            <a:avLst>
              <a:gd fmla="val 76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p42"/>
          <p:cNvSpPr txBox="1"/>
          <p:nvPr/>
        </p:nvSpPr>
        <p:spPr>
          <a:xfrm>
            <a:off x="773404" y="1612914"/>
            <a:ext cx="1847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59</a:t>
            </a: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,92%</a:t>
            </a:r>
            <a:endParaRPr b="1" sz="3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30" name="Google Shape;230;p42"/>
          <p:cNvSpPr txBox="1"/>
          <p:nvPr/>
        </p:nvSpPr>
        <p:spPr>
          <a:xfrm>
            <a:off x="765350" y="1196700"/>
            <a:ext cx="201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PROB. DE DETRACCIÓN</a:t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42"/>
          <p:cNvSpPr/>
          <p:nvPr/>
        </p:nvSpPr>
        <p:spPr>
          <a:xfrm>
            <a:off x="572079" y="2860789"/>
            <a:ext cx="2364000" cy="1388100"/>
          </a:xfrm>
          <a:prstGeom prst="roundRect">
            <a:avLst>
              <a:gd fmla="val 76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42"/>
          <p:cNvSpPr txBox="1"/>
          <p:nvPr/>
        </p:nvSpPr>
        <p:spPr>
          <a:xfrm>
            <a:off x="773879" y="3368564"/>
            <a:ext cx="1847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0,14</a:t>
            </a:r>
            <a:endParaRPr b="1" sz="3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765943" y="2952350"/>
            <a:ext cx="201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CONFIANZA</a:t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4" name="Google Shape;234;p42"/>
          <p:cNvCxnSpPr/>
          <p:nvPr/>
        </p:nvCxnSpPr>
        <p:spPr>
          <a:xfrm>
            <a:off x="3162600" y="1087843"/>
            <a:ext cx="0" cy="3198900"/>
          </a:xfrm>
          <a:prstGeom prst="straightConnector1">
            <a:avLst/>
          </a:prstGeom>
          <a:noFill/>
          <a:ln cap="flat" cmpd="sng" w="11800">
            <a:solidFill>
              <a:srgbClr val="00139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42"/>
          <p:cNvSpPr/>
          <p:nvPr/>
        </p:nvSpPr>
        <p:spPr>
          <a:xfrm>
            <a:off x="344875" y="4477696"/>
            <a:ext cx="8565000" cy="5280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VÍNCULOS VALIDADOS: 4 · lectura Por Subpalanca.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3242700" y="1006450"/>
            <a:ext cx="5333700" cy="431100"/>
          </a:xfrm>
          <a:prstGeom prst="rect">
            <a:avLst/>
          </a:prstGeom>
          <a:solidFill>
            <a:srgbClr val="85CAFF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NPS 0: no me deja hacer 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transferencias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, marca error de horario</a:t>
            </a:r>
            <a:r>
              <a:rPr b="1" lang="es" sz="1600">
                <a:solidFill>
                  <a:srgbClr val="00288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3242700" y="1490825"/>
            <a:ext cx="5333700" cy="615600"/>
          </a:xfrm>
          <a:prstGeom prst="rect">
            <a:avLst/>
          </a:prstGeom>
          <a:solidFill>
            <a:srgbClr val="85CAFF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NPS 5: No pude 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realizar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ningún movimiento porque marcaba que algo salió mal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42"/>
          <p:cNvSpPr/>
          <p:nvPr/>
        </p:nvSpPr>
        <p:spPr>
          <a:xfrm>
            <a:off x="3242700" y="2181025"/>
            <a:ext cx="5333700" cy="2067900"/>
          </a:xfrm>
          <a:prstGeom prst="roundRect">
            <a:avLst>
              <a:gd fmla="val 477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➢"/>
            </a:pP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Evidencia 1 · INC000104320464: Se detecta que al realizar el pago de impuestos se muestra el error Algo salió mal. Impacto: Ocasionando demora en pagos del…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➢"/>
            </a:pP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Evidencia 2 · INC000104278584: Se detecta que al ingresar al módulo seguimiento y al realizar la consulta de los lotes para obtención de reportes y comprobant…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➢"/>
            </a:pP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etc (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INC000104278xxx, INC000104278xxx</a:t>
            </a: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/>
          <p:nvPr/>
        </p:nvSpPr>
        <p:spPr>
          <a:xfrm>
            <a:off x="8812299" y="4770250"/>
            <a:ext cx="3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43"/>
          <p:cNvSpPr txBox="1"/>
          <p:nvPr/>
        </p:nvSpPr>
        <p:spPr>
          <a:xfrm>
            <a:off x="342000" y="270000"/>
            <a:ext cx="7971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Causalidad en t</a:t>
            </a:r>
            <a:r>
              <a:rPr b="1" lang="es" sz="2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ópico NPS ancla: Pagos/ Transferencias &gt; Falta pago de impuestos/ servicios</a:t>
            </a:r>
            <a:endParaRPr b="1" sz="24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45" name="Google Shape;245;p43"/>
          <p:cNvSpPr/>
          <p:nvPr/>
        </p:nvSpPr>
        <p:spPr>
          <a:xfrm>
            <a:off x="571604" y="1105139"/>
            <a:ext cx="2364000" cy="1388100"/>
          </a:xfrm>
          <a:prstGeom prst="roundRect">
            <a:avLst>
              <a:gd fmla="val 76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43"/>
          <p:cNvSpPr txBox="1"/>
          <p:nvPr/>
        </p:nvSpPr>
        <p:spPr>
          <a:xfrm>
            <a:off x="773404" y="1612914"/>
            <a:ext cx="1847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49,42</a:t>
            </a: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%</a:t>
            </a:r>
            <a:endParaRPr b="1" sz="3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47" name="Google Shape;247;p43"/>
          <p:cNvSpPr txBox="1"/>
          <p:nvPr/>
        </p:nvSpPr>
        <p:spPr>
          <a:xfrm>
            <a:off x="765350" y="1196700"/>
            <a:ext cx="201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PROB. DE DETRACCIÓN</a:t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43"/>
          <p:cNvSpPr/>
          <p:nvPr/>
        </p:nvSpPr>
        <p:spPr>
          <a:xfrm>
            <a:off x="572079" y="2860789"/>
            <a:ext cx="2364000" cy="1388100"/>
          </a:xfrm>
          <a:prstGeom prst="roundRect">
            <a:avLst>
              <a:gd fmla="val 76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43"/>
          <p:cNvSpPr txBox="1"/>
          <p:nvPr/>
        </p:nvSpPr>
        <p:spPr>
          <a:xfrm>
            <a:off x="773879" y="3368564"/>
            <a:ext cx="1847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0,13</a:t>
            </a:r>
            <a:endParaRPr b="1" sz="3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50" name="Google Shape;250;p43"/>
          <p:cNvSpPr txBox="1"/>
          <p:nvPr/>
        </p:nvSpPr>
        <p:spPr>
          <a:xfrm>
            <a:off x="765943" y="2952350"/>
            <a:ext cx="20100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1391"/>
                </a:solidFill>
                <a:latin typeface="Lato"/>
                <a:ea typeface="Lato"/>
                <a:cs typeface="Lato"/>
                <a:sym typeface="Lato"/>
              </a:rPr>
              <a:t>CONFIANZA</a:t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139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1" name="Google Shape;251;p43"/>
          <p:cNvCxnSpPr/>
          <p:nvPr/>
        </p:nvCxnSpPr>
        <p:spPr>
          <a:xfrm>
            <a:off x="3162600" y="1087843"/>
            <a:ext cx="0" cy="3198900"/>
          </a:xfrm>
          <a:prstGeom prst="straightConnector1">
            <a:avLst/>
          </a:prstGeom>
          <a:noFill/>
          <a:ln cap="flat" cmpd="sng" w="11800">
            <a:solidFill>
              <a:srgbClr val="00139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43"/>
          <p:cNvSpPr/>
          <p:nvPr/>
        </p:nvSpPr>
        <p:spPr>
          <a:xfrm>
            <a:off x="344875" y="4477696"/>
            <a:ext cx="8565000" cy="528000"/>
          </a:xfrm>
          <a:prstGeom prst="roundRect">
            <a:avLst>
              <a:gd fmla="val 12218" name="adj"/>
            </a:avLst>
          </a:prstGeom>
          <a:solidFill>
            <a:srgbClr val="85C8FF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139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VÍNCULOS VALIDADOS: 1 · lectura Por Subpalanca.</a:t>
            </a:r>
            <a:endParaRPr b="1" sz="1200">
              <a:solidFill>
                <a:srgbClr val="00139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53" name="Google Shape;253;p43"/>
          <p:cNvSpPr/>
          <p:nvPr/>
        </p:nvSpPr>
        <p:spPr>
          <a:xfrm>
            <a:off x="3389600" y="1071550"/>
            <a:ext cx="5157300" cy="503100"/>
          </a:xfrm>
          <a:prstGeom prst="roundRect">
            <a:avLst>
              <a:gd fmla="val 7384" name="adj"/>
            </a:avLst>
          </a:prstGeom>
          <a:solidFill>
            <a:srgbClr val="85C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NPS 6: NO TIENE FIRMAS CONJUNTAS EN PAGOS A CLIENTES MISMO BANCO</a:t>
            </a:r>
            <a:endParaRPr b="1" sz="1600">
              <a:solidFill>
                <a:srgbClr val="00288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254" name="Google Shape;254;p43"/>
          <p:cNvSpPr/>
          <p:nvPr/>
        </p:nvSpPr>
        <p:spPr>
          <a:xfrm>
            <a:off x="3389125" y="1670200"/>
            <a:ext cx="5157300" cy="2616600"/>
          </a:xfrm>
          <a:prstGeom prst="roundRect">
            <a:avLst>
              <a:gd fmla="val 738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➢"/>
            </a:pPr>
            <a:r>
              <a:rPr b="1"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Evidencia 1 · INC000104278158: Se detecta que al proceder a ingresar al módulo de firmas, al momento de realizar una consulta de las operaciones y proceder a…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BVA">
  <a:themeElements>
    <a:clrScheme name="Simple Light">
      <a:dk1>
        <a:srgbClr val="001391"/>
      </a:dk1>
      <a:lt1>
        <a:srgbClr val="FFFFFF"/>
      </a:lt1>
      <a:dk2>
        <a:srgbClr val="070E46"/>
      </a:dk2>
      <a:lt2>
        <a:srgbClr val="F7F8F8"/>
      </a:lt2>
      <a:accent1>
        <a:srgbClr val="85C8FF"/>
      </a:accent1>
      <a:accent2>
        <a:srgbClr val="000519"/>
      </a:accent2>
      <a:accent3>
        <a:srgbClr val="FFB56B"/>
      </a:accent3>
      <a:accent4>
        <a:srgbClr val="FFE761"/>
      </a:accent4>
      <a:accent5>
        <a:srgbClr val="88E783"/>
      </a:accent5>
      <a:accent6>
        <a:srgbClr val="9694FF"/>
      </a:accent6>
      <a:hlink>
        <a:srgbClr val="00139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BVA">
  <a:themeElements>
    <a:clrScheme name="Simple Light">
      <a:dk1>
        <a:srgbClr val="001391"/>
      </a:dk1>
      <a:lt1>
        <a:srgbClr val="FFFFFF"/>
      </a:lt1>
      <a:dk2>
        <a:srgbClr val="060E46"/>
      </a:dk2>
      <a:lt2>
        <a:srgbClr val="F7F8F8"/>
      </a:lt2>
      <a:accent1>
        <a:srgbClr val="85C8FF"/>
      </a:accent1>
      <a:accent2>
        <a:srgbClr val="212121"/>
      </a:accent2>
      <a:accent3>
        <a:srgbClr val="FFB56B"/>
      </a:accent3>
      <a:accent4>
        <a:srgbClr val="FFE761"/>
      </a:accent4>
      <a:accent5>
        <a:srgbClr val="88E783"/>
      </a:accent5>
      <a:accent6>
        <a:srgbClr val="9694FF"/>
      </a:accent6>
      <a:hlink>
        <a:srgbClr val="00139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